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67715" cy="6858000"/>
          </a:xfrm>
          <a:custGeom>
            <a:avLst/>
            <a:gdLst/>
            <a:ahLst/>
            <a:cxnLst/>
            <a:rect l="l" t="t" r="r" b="b"/>
            <a:pathLst>
              <a:path w="767715" h="6858000">
                <a:moveTo>
                  <a:pt x="767334" y="0"/>
                </a:moveTo>
                <a:lnTo>
                  <a:pt x="0" y="0"/>
                </a:lnTo>
                <a:lnTo>
                  <a:pt x="0" y="6858000"/>
                </a:lnTo>
                <a:lnTo>
                  <a:pt x="767334" y="6858000"/>
                </a:lnTo>
                <a:lnTo>
                  <a:pt x="767334" y="0"/>
                </a:lnTo>
                <a:close/>
              </a:path>
            </a:pathLst>
          </a:custGeom>
          <a:solidFill>
            <a:srgbClr val="DCE6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8745" y="474794"/>
            <a:ext cx="1072388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4644" y="1521921"/>
            <a:ext cx="7352665" cy="285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28482" y="6460718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8_TxY93L8xE&amp;list=PLftcEygAp_6Ik8SpKNesLim_omxfXMbmo&amp;index=1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97" y="686536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Hannes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Kaufmann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5" y="51816"/>
            <a:ext cx="625601" cy="62560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150032" y="1102131"/>
            <a:ext cx="2653665" cy="116459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Multimedia</a:t>
            </a:r>
          </a:p>
          <a:p>
            <a:pPr algn="ctr" marL="2540">
              <a:lnSpc>
                <a:spcPct val="100000"/>
              </a:lnSpc>
              <a:spcBef>
                <a:spcPts val="95"/>
              </a:spcBef>
            </a:pPr>
            <a:r>
              <a:rPr dirty="0" sz="3000" spc="-10"/>
              <a:t>Vorlesung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1434794" y="3220087"/>
            <a:ext cx="10091420" cy="285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Hannes</a:t>
            </a:r>
            <a:r>
              <a:rPr dirty="0" sz="3200" spc="-7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A8A8A"/>
                </a:solidFill>
                <a:latin typeface="Calibri"/>
                <a:cs typeface="Calibri"/>
              </a:rPr>
              <a:t>Kaufmann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3200">
              <a:latin typeface="Calibri"/>
              <a:cs typeface="Calibri"/>
            </a:endParaRPr>
          </a:p>
          <a:p>
            <a:pPr algn="ctr" marL="2129790" marR="2123440">
              <a:lnSpc>
                <a:spcPct val="120000"/>
              </a:lnSpc>
            </a:pP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Virtual</a:t>
            </a:r>
            <a:r>
              <a:rPr dirty="0" sz="3200" spc="-9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&amp;</a:t>
            </a:r>
            <a:r>
              <a:rPr dirty="0" sz="3200" spc="-10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Augmented</a:t>
            </a:r>
            <a:r>
              <a:rPr dirty="0" sz="3200" spc="-9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Reality</a:t>
            </a:r>
            <a:r>
              <a:rPr dirty="0" sz="3200" spc="-8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A8A8A"/>
                </a:solidFill>
                <a:latin typeface="Calibri"/>
                <a:cs typeface="Calibri"/>
              </a:rPr>
              <a:t>Group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Research</a:t>
            </a:r>
            <a:r>
              <a:rPr dirty="0" sz="3200" spc="-12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Unit</a:t>
            </a:r>
            <a:r>
              <a:rPr dirty="0" sz="3200" spc="-12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Computer</a:t>
            </a:r>
            <a:r>
              <a:rPr dirty="0" sz="3200" spc="-10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A8A8A"/>
                </a:solidFill>
                <a:latin typeface="Calibri"/>
                <a:cs typeface="Calibri"/>
              </a:rPr>
              <a:t>Graphics</a:t>
            </a:r>
            <a:endParaRPr sz="3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Institute</a:t>
            </a:r>
            <a:r>
              <a:rPr dirty="0" sz="3200" spc="-7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of</a:t>
            </a:r>
            <a:r>
              <a:rPr dirty="0" sz="3200" spc="-9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Visual</a:t>
            </a:r>
            <a:r>
              <a:rPr dirty="0" sz="3200" spc="-7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Computing</a:t>
            </a:r>
            <a:r>
              <a:rPr dirty="0" sz="3200" spc="-6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&amp;</a:t>
            </a:r>
            <a:r>
              <a:rPr dirty="0" sz="3200" spc="-9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 spc="-25">
                <a:solidFill>
                  <a:srgbClr val="8A8A8A"/>
                </a:solidFill>
                <a:latin typeface="Calibri"/>
                <a:cs typeface="Calibri"/>
              </a:rPr>
              <a:t>Human-</a:t>
            </a:r>
            <a:r>
              <a:rPr dirty="0" sz="3200">
                <a:solidFill>
                  <a:srgbClr val="8A8A8A"/>
                </a:solidFill>
                <a:latin typeface="Calibri"/>
                <a:cs typeface="Calibri"/>
              </a:rPr>
              <a:t>Centered</a:t>
            </a:r>
            <a:r>
              <a:rPr dirty="0" sz="3200" spc="-7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A8A8A"/>
                </a:solidFill>
                <a:latin typeface="Calibri"/>
                <a:cs typeface="Calibri"/>
              </a:rPr>
              <a:t>Technology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8883" y="6358765"/>
            <a:ext cx="4480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8A8A8A"/>
                </a:solidFill>
                <a:latin typeface="Calibri"/>
                <a:cs typeface="Calibri"/>
              </a:rPr>
              <a:t>Based</a:t>
            </a:r>
            <a:r>
              <a:rPr dirty="0" sz="1800" spc="-4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8A8A8A"/>
                </a:solidFill>
                <a:latin typeface="Calibri"/>
                <a:cs typeface="Calibri"/>
              </a:rPr>
              <a:t>on</a:t>
            </a:r>
            <a:r>
              <a:rPr dirty="0" sz="1800" spc="-4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8A8A8A"/>
                </a:solidFill>
                <a:latin typeface="Calibri"/>
                <a:cs typeface="Calibri"/>
              </a:rPr>
              <a:t>material</a:t>
            </a:r>
            <a:r>
              <a:rPr dirty="0" sz="1800" spc="-4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8A8A8A"/>
                </a:solidFill>
                <a:latin typeface="Calibri"/>
                <a:cs typeface="Calibri"/>
              </a:rPr>
              <a:t>by</a:t>
            </a:r>
            <a:r>
              <a:rPr dirty="0" sz="1800" spc="-4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8A8A8A"/>
                </a:solidFill>
                <a:latin typeface="Calibri"/>
                <a:cs typeface="Calibri"/>
              </a:rPr>
              <a:t>Prof.</a:t>
            </a:r>
            <a:r>
              <a:rPr dirty="0" sz="1800" spc="-6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8A8A8A"/>
                </a:solidFill>
                <a:latin typeface="Calibri"/>
                <a:cs typeface="Calibri"/>
              </a:rPr>
              <a:t>Christian</a:t>
            </a:r>
            <a:r>
              <a:rPr dirty="0" sz="1800" spc="-4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8A8A8A"/>
                </a:solidFill>
                <a:latin typeface="Calibri"/>
                <a:cs typeface="Calibri"/>
              </a:rPr>
              <a:t>Breiteneder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97" y="686536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Hannes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Kaufmann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5" y="51816"/>
            <a:ext cx="625601" cy="62560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814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Psychoacoustics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1297939" y="1623060"/>
            <a:ext cx="10801350" cy="33547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08648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Scientific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sound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perception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audiology: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humans </a:t>
            </a:r>
            <a:r>
              <a:rPr dirty="0" sz="2800">
                <a:latin typeface="Calibri"/>
                <a:cs typeface="Calibri"/>
              </a:rPr>
              <a:t>perceive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various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sounds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Study</a:t>
            </a:r>
            <a:r>
              <a:rPr dirty="0" sz="28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your</a:t>
            </a:r>
            <a:r>
              <a:rPr dirty="0" sz="2800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own</a:t>
            </a:r>
            <a:r>
              <a:rPr dirty="0" sz="28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Youtube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course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“Psychoakustik”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(German)</a:t>
            </a:r>
            <a:endParaRPr sz="2800">
              <a:latin typeface="Calibri"/>
              <a:cs typeface="Calibri"/>
            </a:endParaRPr>
          </a:p>
          <a:p>
            <a:pPr marL="12700" marR="5080" indent="-635">
              <a:lnSpc>
                <a:spcPct val="100000"/>
              </a:lnSpc>
              <a:spcBef>
                <a:spcPts val="675"/>
              </a:spcBef>
            </a:pPr>
            <a:r>
              <a:rPr dirty="0" u="sng" sz="2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https://www.youtube.com/watch?v=8_TxY93L8xE&amp;list=PLftcEygAp_6Ik8Sp</a:t>
            </a:r>
            <a:r>
              <a:rPr dirty="0" u="none" sz="2800" spc="-2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 </a:t>
            </a:r>
            <a:r>
              <a:rPr dirty="0" u="sng" sz="2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KNesLim_omxfXMbmo&amp;index=1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>
                <a:latin typeface="Calibri"/>
                <a:cs typeface="Calibri"/>
              </a:rPr>
              <a:t>11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parts,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~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107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(total)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97" y="686536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Hannes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Kaufmann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5" y="51816"/>
            <a:ext cx="625601" cy="62560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Inverted</a:t>
            </a:r>
            <a:r>
              <a:rPr dirty="0" spc="-180"/>
              <a:t> </a:t>
            </a:r>
            <a:r>
              <a:rPr dirty="0"/>
              <a:t>Classroom:</a:t>
            </a:r>
            <a:r>
              <a:rPr dirty="0" spc="-155"/>
              <a:t> </a:t>
            </a:r>
            <a:r>
              <a:rPr dirty="0" spc="-30"/>
              <a:t>Psychoacoustics</a:t>
            </a:r>
            <a:r>
              <a:rPr dirty="0" spc="-150"/>
              <a:t> </a:t>
            </a:r>
            <a:r>
              <a:rPr dirty="0" spc="-10"/>
              <a:t>Questions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1054644" y="1521921"/>
            <a:ext cx="10471150" cy="421957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How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do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hear?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What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happens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inside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cochlea?</a:t>
            </a:r>
            <a:endParaRPr sz="3200">
              <a:latin typeface="Calibri"/>
              <a:cs typeface="Calibri"/>
            </a:endParaRPr>
          </a:p>
          <a:p>
            <a:pPr marL="355600" marR="62230" indent="-342900">
              <a:lnSpc>
                <a:spcPts val="3460"/>
              </a:lnSpc>
              <a:spcBef>
                <a:spcPts val="8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What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different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ways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judge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location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&amp;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direction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sound?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What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1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MEL?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What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1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BARK?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What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critical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bandwidth?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How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large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critical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band?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What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connection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between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critical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bands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hair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cells?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97" y="686536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Hannes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Kaufmann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5" y="51816"/>
            <a:ext cx="625601" cy="62560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Inverted</a:t>
            </a:r>
            <a:r>
              <a:rPr dirty="0" spc="-180"/>
              <a:t> </a:t>
            </a:r>
            <a:r>
              <a:rPr dirty="0"/>
              <a:t>Classroom:</a:t>
            </a:r>
            <a:r>
              <a:rPr dirty="0" spc="-155"/>
              <a:t> </a:t>
            </a:r>
            <a:r>
              <a:rPr dirty="0" spc="-30"/>
              <a:t>Psychoacoustics</a:t>
            </a:r>
            <a:r>
              <a:rPr dirty="0" spc="-150"/>
              <a:t> </a:t>
            </a:r>
            <a:r>
              <a:rPr dirty="0" spc="-10"/>
              <a:t>Questions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98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Explain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annotate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/>
              <a:t>figure</a:t>
            </a:r>
            <a:r>
              <a:rPr dirty="0" spc="-75"/>
              <a:t> </a:t>
            </a:r>
            <a:r>
              <a:rPr dirty="0" spc="-10"/>
              <a:t>-</a:t>
            </a:r>
            <a:r>
              <a:rPr dirty="0" spc="-50"/>
              <a:t>&gt;</a:t>
            </a: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 spc="-10"/>
              <a:t>masking?</a:t>
            </a: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What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85"/>
              <a:t> </a:t>
            </a:r>
            <a:r>
              <a:rPr dirty="0" spc="-10"/>
              <a:t>temporal</a:t>
            </a:r>
            <a:r>
              <a:rPr dirty="0" spc="-75"/>
              <a:t> </a:t>
            </a:r>
            <a:r>
              <a:rPr dirty="0" spc="-10"/>
              <a:t>masking?</a:t>
            </a: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Describe</a:t>
            </a:r>
            <a:r>
              <a:rPr dirty="0" spc="-100"/>
              <a:t> </a:t>
            </a:r>
            <a:r>
              <a:rPr dirty="0"/>
              <a:t>a</a:t>
            </a:r>
            <a:r>
              <a:rPr dirty="0" spc="-95"/>
              <a:t> </a:t>
            </a:r>
            <a:r>
              <a:rPr dirty="0" spc="-10"/>
              <a:t>psychoacoustic</a:t>
            </a:r>
            <a:r>
              <a:rPr dirty="0" spc="-80"/>
              <a:t> </a:t>
            </a:r>
            <a:r>
              <a:rPr dirty="0" spc="-10"/>
              <a:t>phenomenon </a:t>
            </a:r>
            <a:r>
              <a:rPr dirty="0"/>
              <a:t>(e.g.</a:t>
            </a:r>
            <a:r>
              <a:rPr dirty="0" spc="-90"/>
              <a:t> </a:t>
            </a:r>
            <a:r>
              <a:rPr dirty="0"/>
              <a:t>Shepard</a:t>
            </a:r>
            <a:r>
              <a:rPr dirty="0" spc="-80"/>
              <a:t> </a:t>
            </a:r>
            <a:r>
              <a:rPr dirty="0"/>
              <a:t>Scala,</a:t>
            </a:r>
            <a:r>
              <a:rPr dirty="0" spc="-80"/>
              <a:t> </a:t>
            </a:r>
            <a:r>
              <a:rPr dirty="0" spc="-25"/>
              <a:t>Tritonus</a:t>
            </a:r>
            <a:r>
              <a:rPr dirty="0" spc="-90"/>
              <a:t> </a:t>
            </a:r>
            <a:r>
              <a:rPr dirty="0" spc="-10"/>
              <a:t>Paradoxon,…)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1757" y="1124711"/>
            <a:ext cx="3444239" cy="237515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TU Wien - Campusversion</Company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kaufmann</dc:creator>
  <dc:title>Multimedia</dc:title>
  <dcterms:created xsi:type="dcterms:W3CDTF">2026-06-04T15:10:22Z</dcterms:created>
  <dcterms:modified xsi:type="dcterms:W3CDTF">2026-06-04T15:10:22Z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2021-03-07T00:00:00Z</vt:filetime>
  </property>
  <property fmtid="{D5CDD505-2E9C-101B-9397-08002B2CF9AE}" pid="3" name="Creator">
    <vt:lpwstr>Acrobat PDFMaker 11 for PowerPoint</vt:lpwstr>
  </property>
  <property fmtid="{D5CDD505-2E9C-101B-9397-08002B2CF9AE}" pid="4" name="LastSaved">
    <vt:filetime>2026-06-04T00:00:00Z</vt:filetime>
  </property>
  <property fmtid="{D5CDD505-2E9C-101B-9397-08002B2CF9AE}" pid="5" name="Producer">
    <vt:lpwstr>Adobe PDF Library 11.0</vt:lpwstr>
  </property>
</Properties>
</file>